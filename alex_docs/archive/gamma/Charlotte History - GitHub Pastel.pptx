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0C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of Charlotte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Carolina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Colonial Settlement to Modern Banking Capital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80C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Origins &amp; Early Settlement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Catawba Nation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18872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thousands of years, the Catawba Native American tribe inhabited the Piedmont region, including what would become Charlotte. They were skilled farmers, hunters, and traders who established a thriving civilization in the Carolina backcountry.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solidFill>
            <a:srgbClr val="FFF1E5"/>
          </a:solidFill>
          <a:ln w="19050">
            <a:solidFill>
              <a:srgbClr val="FFB77C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Settlers Arrive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Mid-1700s: 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Scots-Irish and German immigrants arrived seeking farmland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1768: 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officially founded and named after Queen Charlotte of Mecklenburg-Strelitz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Economy: 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and small-scale trade dominated the settlement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Spirit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FF1E5"/>
          </a:solidFill>
          <a:ln w="19050">
            <a:solidFill>
              <a:srgbClr val="FFB77C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1097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Mecklenburg Declaration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20, 1775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claims to have declared independence from Britain over a year before the national declaration. While historians debate its authenticity, this date appears on both the North Carolina state flag and Charlotte's city seal.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63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Hornet's Nest"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General Cornwallis gave Charlotte this nickname after fierce resistance during the Battle of Charlotte in 1780.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D8B9FF"/>
          </a:solidFill>
          <a:ln w="19050">
            <a:solidFill>
              <a:srgbClr val="BF8A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3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Legacy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029200" y="18288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its royal name, Charlotte became known for fierce independence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militia resisted British occupation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spirit of resistance continues to define the Queen City today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Rush Era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First Gold Rush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560320" cy="1645920"/>
          </a:xfrm>
          <a:prstGeom prst="rect">
            <a:avLst/>
          </a:prstGeom>
          <a:solidFill>
            <a:srgbClr val="FFF8C5"/>
          </a:solidFill>
          <a:ln w="25400">
            <a:solidFill>
              <a:srgbClr val="D4A72C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1799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Conrad Reed discovers a 17-pound gold nugget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737360"/>
            <a:ext cx="2560320" cy="1645920"/>
          </a:xfrm>
          <a:prstGeom prst="rect">
            <a:avLst/>
          </a:prstGeom>
          <a:solidFill>
            <a:srgbClr val="DDF4FF"/>
          </a:solidFill>
          <a:ln w="25400">
            <a:solidFill>
              <a:srgbClr val="80CC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1830s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338328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becomes the center of gold production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737360"/>
            <a:ext cx="2560320" cy="1645920"/>
          </a:xfrm>
          <a:prstGeom prst="rect">
            <a:avLst/>
          </a:prstGeom>
          <a:solidFill>
            <a:srgbClr val="D8B9FF"/>
          </a:solidFill>
          <a:ln w="25400">
            <a:solidFill>
              <a:srgbClr val="BF8A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3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1837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6217920" y="24688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Branch Mint established in Charlotte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FB8C1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rush transformed Charlotte from a small farming community into a commercial center. The U.S. Mint operated until the Civil War, establishing Charlotte's reputation as a hub for finance and commerce that continues today.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War &amp; Reconstruction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1861-1900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40233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77C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53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Civil War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Confederate naval yard and supply depot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Strategic manufacturing location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Surrendered to Union forces in 1865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meeting place of Confederate Cabinet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3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Transformation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war, Charlotte rebuilt around cotton trading and textile manufacturing, earning the nickname "The Cotton Town."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737360"/>
            <a:ext cx="4023360" cy="3017520"/>
          </a:xfrm>
          <a:prstGeom prst="rect">
            <a:avLst/>
          </a:prstGeom>
          <a:solidFill>
            <a:srgbClr val="DDF4FF"/>
          </a:solidFill>
          <a:ln w="19050">
            <a:solidFill>
              <a:srgbClr val="80CC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29200" y="2468880"/>
            <a:ext cx="3474720" cy="73152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751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~4,500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029200" y="3200400"/>
            <a:ext cx="3474720" cy="73152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18,000+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463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increase in 30 years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 &amp; Railroad Hub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1900-1970: Industrial Powerhouse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0CC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South's Leading Textile Manufacturing Center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Mills dotted the landscape as Charlotte became a major railroad junction connecting the Southeast. This industrial growth attracted workers from across the region and transformed the city from a small town into a thriving industrial center.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Rights Movement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D3F5DB"/>
          </a:solidFill>
          <a:ln w="19050">
            <a:solidFill>
              <a:srgbClr val="6FDD8B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Swann v. Charlotte-Mecklenburg Board of Education </a:t>
            </a:r>
            <a:pPr indent="0" marL="0">
              <a:buNone/>
            </a:pPr>
            <a:r>
              <a:rPr lang="en-US" sz="13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(1971): Landmark Supreme Court case establishing busing as a tool for school desegregation. Charlotte peacefully integrated its schools, setting an example for the nation.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Capital &amp; Modern Growth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1970-Present: Financial Transformation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4023360" cy="1188720"/>
          </a:xfrm>
          <a:prstGeom prst="rect">
            <a:avLst/>
          </a:prstGeom>
          <a:solidFill>
            <a:srgbClr val="FFF8C5"/>
          </a:solidFill>
          <a:ln w="25400">
            <a:solidFill>
              <a:srgbClr val="D4A72C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920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Center in the U.S.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63440" y="1737360"/>
            <a:ext cx="4023360" cy="1188720"/>
          </a:xfrm>
          <a:prstGeom prst="rect">
            <a:avLst/>
          </a:prstGeom>
          <a:solidFill>
            <a:srgbClr val="DDF4FF"/>
          </a:solidFill>
          <a:ln w="19050">
            <a:solidFill>
              <a:srgbClr val="80CC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1920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America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Headquarters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Fargo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Coast Operations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FB8C1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Population Growth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1970: 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~240,000 residents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900,000+ city population, 2.8 million metro area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Economy: </a:t>
            </a:r>
            <a:pPr indent="0" marL="0">
              <a:buNone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beyond banking to include healthcare, technology, and energy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Charlotte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America's Fastest-Growing Cities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651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72C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737360"/>
            <a:ext cx="2651760" cy="109728"/>
          </a:xfrm>
          <a:prstGeom prst="rect">
            <a:avLst/>
          </a:prstGeom>
          <a:solidFill>
            <a:srgbClr val="FFF8C5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Culture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Carolina Panthers (NFL)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Charlotte Hornets (NBA)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NASCAR events at Charlotte Motor Speedway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Vibrant arts and music scene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737360"/>
            <a:ext cx="2651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F8A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737360"/>
            <a:ext cx="2651760" cy="109728"/>
          </a:xfrm>
          <a:prstGeom prst="rect">
            <a:avLst/>
          </a:prstGeom>
          <a:solidFill>
            <a:srgbClr val="D8B9FF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3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Diversity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33756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Banking &amp; finance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Healthcare &amp; biotech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Technology sector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companies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737360"/>
            <a:ext cx="26517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80CCFF"/>
            </a:solidFill>
            <a:prstDash val="solid"/>
          </a:ln>
          <a:effectLst>
            <a:outerShdw sx="100000" sy="100000" kx="0" ky="0" algn="bl" rotWithShape="0" blurRad="101600" dist="25400" dir="8100000">
              <a:srgbClr val="6639ba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1737360"/>
            <a:ext cx="2651760" cy="109728"/>
          </a:xfrm>
          <a:prstGeom prst="rect">
            <a:avLst/>
          </a:prstGeom>
          <a:solidFill>
            <a:srgbClr val="DDF4FF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Preserved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126480" y="23774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Fourth Ward historic district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Levine Museum of the New South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Original mint building preserved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"Hornet's Nest" legacy lives 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0C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5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Queen City's Legacy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5486400" cy="54864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revolutionary roots through gold rush prosperity, industrial dominance, and financial power, Charlotte has evolved into one of America's fastest-growing cities. The spirit of independence and innovation that earned it the "Hornet's Nest" nickname continues to drive the Queen City forward.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80CC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Charlotte, North Carolina</dc:title>
  <dc:subject>PptxGenJS Presentation</dc:subject>
  <dc:creator>Alex Cognitive Architecture</dc:creator>
  <cp:lastModifiedBy>Alex Cognitive Architecture</cp:lastModifiedBy>
  <cp:revision>1</cp:revision>
  <dcterms:created xsi:type="dcterms:W3CDTF">2026-02-07T20:15:00Z</dcterms:created>
  <dcterms:modified xsi:type="dcterms:W3CDTF">2026-02-07T20:15:00Z</dcterms:modified>
</cp:coreProperties>
</file>