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Readiness Scale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UTAUT2 for Enterprise AI Adoption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Correa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Candidate, Doctor of Business Administration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Touro University Worldwide | December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Adoption-Value Paradox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43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Soaring...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169164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200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169164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9436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2025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154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Value Capture is Failing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70332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companies achieve measurable business value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846320" y="370332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46320" y="370332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90-95%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generative AI pilots fail to scale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Question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established technology acceptance frameworks adequately explain AI-specific adoption patterns, or do the unique characteristics of AI systems require theoretical extension?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926080"/>
            <a:ext cx="73152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972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Validate AIRS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psychometrically sound AI Readiness Scale extending UTAUT2 with AI-specific constructs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2926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926080"/>
            <a:ext cx="73152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30352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Adoption Drivers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9377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key psychological factors that drive AI adoption intention in professional and academic contexts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Foundation: UTAUT2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UTAUT2 Constructs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about enhancing job performance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69164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204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204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ease of use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69164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of others' opinions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218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&amp; technical support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29000" y="274320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204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20440" y="3218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Enjoyment from technology use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274320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922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218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trade-offs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9476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4270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Automaticity from repeated use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(Blut et al., 2022): 737,112 users across 1,935 samples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Extensions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Trust Construct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addresses unique challenges of trusting systems that operate through opaque algorithms and probabilistic reasoning. Users cannot directly observe or verify decision-making processes, creating fundamentally different trust dynamics than conventional technologies.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Constructs Explored (Excluded Due to Measurement Challenges)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Anxiety: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Apprehension about job displacement &amp; loss of control (α = .582)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interpretability concerns (α = .381)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480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implications of algorithmic decisions (α = .301)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Composition (N = 523)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(n=216)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6916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55848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355848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(n=184)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4496" y="16916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54496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254496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Leaders (n=123)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97180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10-Phase Psychometric Validation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Split-sample validation • Exploratory Factor Analysis (n=261) • Confirmatory Factor Analysis (n=262) • Measurement invariance testing • Structural equation modeling • Mediation analysis • Moderation analysis • Behavioral validation • Qualitative analysis • Final synthesis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8-Factor AIRS Model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16-Item Instrument: Excellent Psychometric Properties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Indices (Holdout Sample Validation)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 = .975  •  TLI = .960  •  RMSEA = .065  •  SRMR = .048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Validated Factors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32186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Expectancy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.891)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70048" y="3108960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61488" y="32186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Expectancy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.887)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82896" y="3108960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74336" y="32186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.854)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95744" y="3108960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187184" y="32186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Facilitating Conditions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.743)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584448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6941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Motivation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.893)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670048" y="3584448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761488" y="36941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Value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.901)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82896" y="3584448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74336" y="36941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.909)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95744" y="3584448"/>
            <a:ext cx="21031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187184" y="36941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</a:t>
            </a:r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 = .885)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A Paradigm Shift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85.2% of Variance in Behavioral Intention (R² = .852)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691640"/>
            <a:ext cx="13716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1887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Value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 (β = .505, p &lt; .001)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evaluation drives AI adoption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91640"/>
            <a:ext cx="137160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3949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Motivation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3776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 (β = .217, p = .014)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Enjoyment &amp; engagement quality matter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Departure from Traditional UTAUT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Expectancy, Effort Expectancy, Facilitating Conditions, and Habit </a:t>
            </a:r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not significant predictors</a:t>
            </a:r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p &gt; .05)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evaluate AI through a value lens ("Is it worth it?") rather than utility lens ("Will it help me?") — a fundamental shift in technology adoption psychology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User Segments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Enthusiasts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trust, high intention, low anxiety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109728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Adopters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4231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trust, evaluative stance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09728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3736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Users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383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profiles, pragmatic approach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8620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Avoiders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343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anxiety, low adoption intent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&amp; Recommendations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Practitioners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clear ROI — value perception matters more than capabilities alone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engagement, not just utility — make AI tools enjoyable to use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visible AI champions and peer communities for social influence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segment-specific strategies based on user readiness profiles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7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42900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" y="39319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68680" y="39319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16-item AIRS instrument available for cross-context research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" y="42793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68680" y="42793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with larger samples (n &gt; 600) to confirm small effects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" y="46268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68680" y="462686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validation tracking behavior over 6-12 months post-intention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0080" y="497433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68680" y="497433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Cross-cultural &amp; industry-specific adaptation studies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Contributions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extended UTAUT2 with AI Trust construct, demonstrating AI as theoretically distinct technology category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Value-Centric Paradigm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fundamental shift from utility-based to value-based evaluation in AI adoption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moderation effect connects technology acceptance with vocational psychology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4069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Diagnostic Tool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psychometrically sound 16-item instrument for organizational AI readiness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Research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precludes definitive causal inference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965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panel sample limits cross-cultural generalizability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317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proposed AI constructs excluded due to reliability challenges (α &lt; .60)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usage data rather than objective behavioral tracking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200400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Research Directions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" y="3703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3703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designs tracking intention → behavior relationships over time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0080" y="4023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8680" y="4023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Cross-cultural validation in collectivist societies and developing economies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" y="43434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868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adaptation examining sector differences in AI adoption drivers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0080" y="46634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6868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effectiveness studies testing segment-tailored approaches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0080" y="49834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68680" y="4983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measurement of AI Anxiety, Explainability, and Ethical Risk constructs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operates through different psychological mechanisms than conventional technology. Cost-benefit perceptions and intrinsic enjoyment matter more than traditional utility considerations.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32004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validated AIRS diagnostic instrument enables both research advancement and practical organizational assessment — helping close the persistent gap between AI adoption and value realization.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Correa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Business Administration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Touro University Worldwide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Scale: Extending UTAUT2 for Enterprise AI Adoption</dc:title>
  <dc:subject>PptxGenJS Presentation</dc:subject>
  <dc:creator>Fabio Correa</dc:creator>
  <cp:lastModifiedBy>Fabio Correa</cp:lastModifiedBy>
  <cp:revision>1</cp:revision>
  <dcterms:created xsi:type="dcterms:W3CDTF">2026-02-07T19:31:36Z</dcterms:created>
  <dcterms:modified xsi:type="dcterms:W3CDTF">2026-02-07T19:31:36Z</dcterms:modified>
</cp:coreProperties>
</file>